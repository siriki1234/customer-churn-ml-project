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⭐ 1 Star</c:v>
                  </c:pt>
                  <c:pt idx="1">
                    <c:v>⭐⭐ 2 Stars</c:v>
                  </c:pt>
                  <c:pt idx="2">
                    <c:v>⭐⭐⭐ 3 Stars</c:v>
                  </c:pt>
                  <c:pt idx="3">
                    <c:v>⭐⭐⭐⭐ 4 Stars</c:v>
                  </c:pt>
                  <c:pt idx="4">
                    <c:v>⭐⭐⭐⭐⭐ 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11424</c:v>
                </c:pt>
                <c:pt idx="1">
                  <c:v>3151</c:v>
                </c:pt>
                <c:pt idx="2">
                  <c:v>8179</c:v>
                </c:pt>
                <c:pt idx="3">
                  <c:v>19142</c:v>
                </c:pt>
                <c:pt idx="4">
                  <c:v>57328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0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2E6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 Order (96.9%)</c:v>
                </c:pt>
                <c:pt idx="1">
                  <c:v>2 Orders (2.9%)</c:v>
                </c:pt>
                <c:pt idx="2">
                  <c:v>3+ Orders (0.2%)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93099</c:v>
                </c:pt>
                <c:pt idx="1">
                  <c:v>2745</c:v>
                </c:pt>
                <c:pt idx="2">
                  <c:v>252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2E6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Platform — Brazil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99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leaving, why they leave, and what we can do about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96,096 customers  |  12 features  |  8 data tables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a Brazilian e-commerce marketplace connecting thousands of small sellers to millions of customers across all of Brazil.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34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❓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customers never come back after their first purchase. This is called 'churn' — and it costs the business heavily in lost future sales.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34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to understand WHY customers leave and PREDICT who is likely to leave next, so we can take action before it's too late.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We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interconnected tables, each answering a different question about a customer's journey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109728" cy="1325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075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bought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508760"/>
            <a:ext cx="109728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624328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24328" y="2075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ordered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508760"/>
            <a:ext cx="109728" cy="1325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075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&amp; prices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50876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508760"/>
            <a:ext cx="109728" cy="1325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922008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22008" y="2075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paid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63240"/>
            <a:ext cx="109728" cy="1325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3630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happy they were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306324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23160" y="3063240"/>
            <a:ext cx="109728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2624328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24328" y="3630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06324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063240"/>
            <a:ext cx="109728" cy="13258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73168" y="3630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sold 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3063240"/>
            <a:ext cx="1965960" cy="132588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0840" y="3063240"/>
            <a:ext cx="109728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6922008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22008" y="3630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 — Key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96,096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3392" y="1005840"/>
            <a:ext cx="1554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93392" y="1005840"/>
            <a:ext cx="1554480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039112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39112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(Inactive &gt;6 mo)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12464" y="1005840"/>
            <a:ext cx="1554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1005840"/>
            <a:ext cx="1554480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758184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4.08/5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58184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1536" y="1005840"/>
            <a:ext cx="1554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1005840"/>
            <a:ext cx="1554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477256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77256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50608" y="1005840"/>
            <a:ext cx="1554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0608" y="1005840"/>
            <a:ext cx="1554480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196328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96328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Only 3.9% of customers use vouchers. 97% of customers placed only 1 order.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'Churned' Mean?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C2E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0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447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ACTIVE CUSTOMER ZONE  (0–6 months since last order)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2004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4447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CHURNED ZONE  (&gt;6 months inactive)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📅  Last order date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📅  Reference date: Oct 17, 2018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26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(71%)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68,204 customers who bought once — then disappeared. No second order for more than 6 months.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3840480" cy="164592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926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(29%)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27,892 customers who are still ordering or ordered recently. These are our loyal, valuable customers.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Customers Leave? — Clues in the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7373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Churned Customers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Active Customers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Avg Satisfaction 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4.02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</a:rPr>
                        <a:t>4.24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Active customers rate experiences higher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Avg Delivery Wait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13.8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</a:rPr>
                        <a:t>9.5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Churned customers waited 45% longer!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Avg Delivery Delay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-11.5 days (early)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</a:rPr>
                        <a:t>-12.8 days (early)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Both groups got deliveries early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Avg Order 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R$ 137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</a:rPr>
                        <a:t>R$ 140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Almost the same — price isn't the issue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Freight Cost Share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21%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</a:rPr>
                        <a:t>21%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Shipping cost ratio is the same for both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insight: Long delivery wait times and lower satisfaction are the strongest signals of churn.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Happiness — Review Scores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2743200" cy="9144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1188720"/>
            <a:ext cx="9144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2179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5 stars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2377440"/>
            <a:ext cx="2743200" cy="9144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2377440"/>
            <a:ext cx="9144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179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1 star — very unhappy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566160"/>
            <a:ext cx="2743200" cy="9144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356616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21792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overall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Customers Leaving From?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by Customer Count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90472"/>
            <a:ext cx="3657600" cy="3200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90472"/>
            <a:ext cx="3657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SP (São Paulo)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40,302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490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69% churn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3657600" cy="3200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148840"/>
            <a:ext cx="1123544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75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RJ (Rio de Janeiro)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075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12,380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72% churn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07208"/>
            <a:ext cx="3657600" cy="3200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807208"/>
            <a:ext cx="102108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34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MG (Minas Gerais)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73405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11,251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807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71% churn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65576"/>
            <a:ext cx="3657600" cy="3200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465576"/>
            <a:ext cx="47882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RS (Rio Grande do Sul)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3924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5,276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465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70% churn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23944"/>
            <a:ext cx="3657600" cy="3200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4123944"/>
            <a:ext cx="44270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PR (Paraná)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0507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4,878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4123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69% churn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Highest Churn Rates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0" y="1463040"/>
            <a:ext cx="3566160" cy="411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146304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AC (Acre)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81.8%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2121408"/>
            <a:ext cx="3566160" cy="411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0" y="2121408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AL (Alagoas)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0" y="21671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77.8%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29200" y="2779776"/>
            <a:ext cx="3566160" cy="411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0" y="2779776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28254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PA (Pará)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98080" y="28254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77.2%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29200" y="3438144"/>
            <a:ext cx="3566160" cy="411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0" y="3438144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34838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MA (Maranhão)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98080" y="34838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77.1%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029200" y="4096512"/>
            <a:ext cx="3566160" cy="411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0" y="4096512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AP (Amapá)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498080" y="41422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76.1%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Northern and northeastern states show higher churn — possibly due to longer delivery times.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Customers Order?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005840"/>
            <a:ext cx="3657600" cy="77724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66360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😟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of customers placed just ONE order and never returned. This is the core churn problem.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20640" y="1984248"/>
            <a:ext cx="3657600" cy="77724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66360" y="20756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6928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2.9% came back for a 2nd order. These are early-stage loyal customers.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2962656"/>
            <a:ext cx="3657600" cy="77724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66360" y="30540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69280" y="300837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0.3% placed 3 or more orders. True loyal customers are extremely rare.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20640" y="3941064"/>
            <a:ext cx="3657600" cy="77724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66360" y="40325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669280" y="39867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someone from 1 order to 2 orders is the most important conversion to target.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vs Customer Happiness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Breakdown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965960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417320"/>
            <a:ext cx="1965960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417320"/>
            <a:ext cx="1965960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417320"/>
            <a:ext cx="1965960" cy="12801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1228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8595360" cy="16459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71800"/>
            <a:ext cx="109728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delivery data tells us: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429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 average, deliveries arrive 12 days EARLIER than the estimated date — good news!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Churned customers waited 13.8 days on average vs 9.5 days for active customers.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Faster delivery = happier customers = lower chance of churn.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Predict With This Data?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analytics table builds 12 features per customer to power a churn prediction model: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996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8105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did they buy?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6304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4996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18105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they spend per order?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73152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4996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8105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they happy with their experience?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86000"/>
            <a:ext cx="73152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322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Delay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items arrive late or early?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28600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286000"/>
            <a:ext cx="73152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2322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did they wait for delivery?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28600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28600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2322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Freight Sensitivity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their bill was shipping costs?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0896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3145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Voucher?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8912" y="3456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ever use a discount voucher?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10896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108960"/>
            <a:ext cx="73152" cy="685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3145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64992" y="3456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Brazil did they live?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10896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10896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6291072" y="3145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 Date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91072" y="3456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they join?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" y="39684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Order Date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8912" y="4279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their most recent purchase?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393192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393192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3364992" y="39684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Order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364992" y="4279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— are they drifting away?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3931920"/>
            <a:ext cx="2743200" cy="685800"/>
          </a:xfrm>
          <a:prstGeom prst="rect">
            <a:avLst/>
          </a:prstGeom>
          <a:solidFill>
            <a:srgbClr val="1C2E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393192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6291072" y="39684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Churned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91072" y="4279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label (Yes/No)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Business 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Deliveries in the North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states like Acre, Alagoas and Pará have 77–82% churn rates, likely due to longer wait times. Prioritize faster logistics partners for these regions.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097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Back the 'One-Time Buyer'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6916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customers only buy once. Send personalized win-back emails or discount vouchers at the 3-month mark to encourage a second purchase before they go cold.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411480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Low-Score Experiences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customers gave only 1 star. Reach out to these customers proactively — a simple apology or refund at the right time can turn an angry customer into a loyal 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63240"/>
            <a:ext cx="411480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Churn Prediction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8404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12-feature analytics table to train a machine learning model. Flag high-risk customers early so sales teams can act before they churn.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046720" cy="475488"/>
          </a:xfrm>
          <a:prstGeom prst="rect">
            <a:avLst/>
          </a:prstGeom>
          <a:solidFill>
            <a:srgbClr val="1C2E6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analyzed 96,096 Olist customers using 8 data tables and 12 engineered features.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8046720" cy="475488"/>
          </a:xfrm>
          <a:prstGeom prst="rect">
            <a:avLst/>
          </a:prstGeom>
          <a:solidFill>
            <a:srgbClr val="1C2E6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9933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customers churned — they stopped buying after just one order.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046720" cy="475488"/>
          </a:xfrm>
          <a:prstGeom prst="rect">
            <a:avLst/>
          </a:prstGeom>
          <a:solidFill>
            <a:srgbClr val="1C2E6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69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predictor of churn is waiting too long for delivery.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8046720" cy="475488"/>
          </a:xfrm>
          <a:prstGeom prst="rect">
            <a:avLst/>
          </a:prstGeom>
          <a:solidFill>
            <a:srgbClr val="1C2E6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45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review scores (1 star) strongly signal future churn — unhappy customers don't return.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8046720" cy="475488"/>
          </a:xfrm>
          <a:prstGeom prst="rect">
            <a:avLst/>
          </a:prstGeom>
          <a:solidFill>
            <a:srgbClr val="1C2E6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21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highest in remote northern Brazilian states, pointing to a logistics problem.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046720" cy="475488"/>
          </a:xfrm>
          <a:prstGeom prst="rect">
            <a:avLst/>
          </a:prstGeom>
          <a:solidFill>
            <a:srgbClr val="1C2E6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297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data, we can build a model to predict — and prevent — churn before it happens.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Customer Churn Analysis  |  Data Science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Customer Churn Analysis</dc:title>
  <dc:subject>PptxGenJS Presentation</dc:subject>
  <dc:creator>PptxGenJS</dc:creator>
  <cp:lastModifiedBy>PptxGenJS</cp:lastModifiedBy>
  <cp:revision>1</cp:revision>
  <dcterms:created xsi:type="dcterms:W3CDTF">2026-03-24T15:07:59Z</dcterms:created>
  <dcterms:modified xsi:type="dcterms:W3CDTF">2026-03-24T15:07:59Z</dcterms:modified>
</cp:coreProperties>
</file>